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4" r:id="rId3"/>
    <p:sldId id="266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C6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2983A-1548-477A-8699-A049CA97622A}" v="9" dt="2024-05-01T02:01:00.587"/>
  </p1510:revLst>
</p1510:revInfo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40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117610005" userId="ed4df039-70b0-4f98-ac31-86f0028da959" providerId="ADAL" clId="{14D2983A-1548-477A-8699-A049CA97622A}"/>
    <pc:docChg chg="undo custSel addSld delSld modSld">
      <pc:chgData name="B117610005" userId="ed4df039-70b0-4f98-ac31-86f0028da959" providerId="ADAL" clId="{14D2983A-1548-477A-8699-A049CA97622A}" dt="2024-05-01T02:01:17.258" v="702" actId="20577"/>
      <pc:docMkLst>
        <pc:docMk/>
      </pc:docMkLst>
      <pc:sldChg chg="modSp mod">
        <pc:chgData name="B117610005" userId="ed4df039-70b0-4f98-ac31-86f0028da959" providerId="ADAL" clId="{14D2983A-1548-477A-8699-A049CA97622A}" dt="2024-05-01T01:28:33.361" v="28" actId="20577"/>
        <pc:sldMkLst>
          <pc:docMk/>
          <pc:sldMk cId="2853772067" sldId="264"/>
        </pc:sldMkLst>
        <pc:spChg chg="mod">
          <ac:chgData name="B117610005" userId="ed4df039-70b0-4f98-ac31-86f0028da959" providerId="ADAL" clId="{14D2983A-1548-477A-8699-A049CA97622A}" dt="2024-05-01T01:28:33.361" v="28" actId="20577"/>
          <ac:spMkLst>
            <pc:docMk/>
            <pc:sldMk cId="2853772067" sldId="264"/>
            <ac:spMk id="7" creationId="{700FABEB-7B8C-6A37-BF8D-408889C6167E}"/>
          </ac:spMkLst>
        </pc:spChg>
      </pc:sldChg>
      <pc:sldChg chg="modSp mod">
        <pc:chgData name="B117610005" userId="ed4df039-70b0-4f98-ac31-86f0028da959" providerId="ADAL" clId="{14D2983A-1548-477A-8699-A049CA97622A}" dt="2024-05-01T01:30:17.557" v="108" actId="20577"/>
        <pc:sldMkLst>
          <pc:docMk/>
          <pc:sldMk cId="97976750" sldId="266"/>
        </pc:sldMkLst>
        <pc:spChg chg="mod">
          <ac:chgData name="B117610005" userId="ed4df039-70b0-4f98-ac31-86f0028da959" providerId="ADAL" clId="{14D2983A-1548-477A-8699-A049CA97622A}" dt="2024-05-01T01:30:17.557" v="108" actId="20577"/>
          <ac:spMkLst>
            <pc:docMk/>
            <pc:sldMk cId="97976750" sldId="266"/>
            <ac:spMk id="7" creationId="{700FABEB-7B8C-6A37-BF8D-408889C6167E}"/>
          </ac:spMkLst>
        </pc:spChg>
      </pc:sldChg>
      <pc:sldChg chg="modSp mod">
        <pc:chgData name="B117610005" userId="ed4df039-70b0-4f98-ac31-86f0028da959" providerId="ADAL" clId="{14D2983A-1548-477A-8699-A049CA97622A}" dt="2024-05-01T02:01:17.258" v="702" actId="20577"/>
        <pc:sldMkLst>
          <pc:docMk/>
          <pc:sldMk cId="885621492" sldId="276"/>
        </pc:sldMkLst>
        <pc:graphicFrameChg chg="mod modGraphic">
          <ac:chgData name="B117610005" userId="ed4df039-70b0-4f98-ac31-86f0028da959" providerId="ADAL" clId="{14D2983A-1548-477A-8699-A049CA97622A}" dt="2024-05-01T02:01:17.258" v="702" actId="20577"/>
          <ac:graphicFrameMkLst>
            <pc:docMk/>
            <pc:sldMk cId="885621492" sldId="276"/>
            <ac:graphicFrameMk id="4" creationId="{C30FBA34-B0A7-629D-81D6-976091ABC31B}"/>
          </ac:graphicFrameMkLst>
        </pc:graphicFrameChg>
      </pc:sldChg>
      <pc:sldChg chg="addSp delSp modSp add mod">
        <pc:chgData name="B117610005" userId="ed4df039-70b0-4f98-ac31-86f0028da959" providerId="ADAL" clId="{14D2983A-1548-477A-8699-A049CA97622A}" dt="2024-05-01T01:59:56.073" v="658" actId="113"/>
        <pc:sldMkLst>
          <pc:docMk/>
          <pc:sldMk cId="1906269130" sldId="277"/>
        </pc:sldMkLst>
        <pc:spChg chg="mod">
          <ac:chgData name="B117610005" userId="ed4df039-70b0-4f98-ac31-86f0028da959" providerId="ADAL" clId="{14D2983A-1548-477A-8699-A049CA97622A}" dt="2024-05-01T01:50:57.516" v="249" actId="20577"/>
          <ac:spMkLst>
            <pc:docMk/>
            <pc:sldMk cId="1906269130" sldId="277"/>
            <ac:spMk id="2" creationId="{E091F827-ADB5-66FF-6600-EEC0F25F9A4F}"/>
          </ac:spMkLst>
        </pc:spChg>
        <pc:graphicFrameChg chg="add mod modGraphic">
          <ac:chgData name="B117610005" userId="ed4df039-70b0-4f98-ac31-86f0028da959" providerId="ADAL" clId="{14D2983A-1548-477A-8699-A049CA97622A}" dt="2024-05-01T01:59:54.841" v="657" actId="113"/>
          <ac:graphicFrameMkLst>
            <pc:docMk/>
            <pc:sldMk cId="1906269130" sldId="277"/>
            <ac:graphicFrameMk id="3" creationId="{BB6CC1BB-19CA-1823-C4AB-667DA93FF07D}"/>
          </ac:graphicFrameMkLst>
        </pc:graphicFrameChg>
        <pc:graphicFrameChg chg="del modGraphic">
          <ac:chgData name="B117610005" userId="ed4df039-70b0-4f98-ac31-86f0028da959" providerId="ADAL" clId="{14D2983A-1548-477A-8699-A049CA97622A}" dt="2024-05-01T01:51:06.462" v="254" actId="478"/>
          <ac:graphicFrameMkLst>
            <pc:docMk/>
            <pc:sldMk cId="1906269130" sldId="277"/>
            <ac:graphicFrameMk id="4" creationId="{C30FBA34-B0A7-629D-81D6-976091ABC31B}"/>
          </ac:graphicFrameMkLst>
        </pc:graphicFrameChg>
        <pc:graphicFrameChg chg="add mod modGraphic">
          <ac:chgData name="B117610005" userId="ed4df039-70b0-4f98-ac31-86f0028da959" providerId="ADAL" clId="{14D2983A-1548-477A-8699-A049CA97622A}" dt="2024-05-01T01:59:56.073" v="658" actId="113"/>
          <ac:graphicFrameMkLst>
            <pc:docMk/>
            <pc:sldMk cId="1906269130" sldId="277"/>
            <ac:graphicFrameMk id="6" creationId="{20316071-C8FB-145A-4884-315EC0D1B27E}"/>
          </ac:graphicFrameMkLst>
        </pc:graphicFrameChg>
      </pc:sldChg>
      <pc:sldChg chg="addSp delSp modSp add mod">
        <pc:chgData name="B117610005" userId="ed4df039-70b0-4f98-ac31-86f0028da959" providerId="ADAL" clId="{14D2983A-1548-477A-8699-A049CA97622A}" dt="2024-05-01T02:00:19.983" v="665" actId="113"/>
        <pc:sldMkLst>
          <pc:docMk/>
          <pc:sldMk cId="1502852559" sldId="278"/>
        </pc:sldMkLst>
        <pc:spChg chg="mod">
          <ac:chgData name="B117610005" userId="ed4df039-70b0-4f98-ac31-86f0028da959" providerId="ADAL" clId="{14D2983A-1548-477A-8699-A049CA97622A}" dt="2024-05-01T01:51:10.210" v="259" actId="20577"/>
          <ac:spMkLst>
            <pc:docMk/>
            <pc:sldMk cId="1502852559" sldId="278"/>
            <ac:spMk id="2" creationId="{E091F827-ADB5-66FF-6600-EEC0F25F9A4F}"/>
          </ac:spMkLst>
        </pc:spChg>
        <pc:graphicFrameChg chg="add mod modGraphic">
          <ac:chgData name="B117610005" userId="ed4df039-70b0-4f98-ac31-86f0028da959" providerId="ADAL" clId="{14D2983A-1548-477A-8699-A049CA97622A}" dt="2024-05-01T02:00:11.172" v="661" actId="113"/>
          <ac:graphicFrameMkLst>
            <pc:docMk/>
            <pc:sldMk cId="1502852559" sldId="278"/>
            <ac:graphicFrameMk id="3" creationId="{51E60038-02D0-8A06-F6EE-F4958D55DF18}"/>
          </ac:graphicFrameMkLst>
        </pc:graphicFrameChg>
        <pc:graphicFrameChg chg="del">
          <ac:chgData name="B117610005" userId="ed4df039-70b0-4f98-ac31-86f0028da959" providerId="ADAL" clId="{14D2983A-1548-477A-8699-A049CA97622A}" dt="2024-05-01T01:51:01.856" v="251" actId="478"/>
          <ac:graphicFrameMkLst>
            <pc:docMk/>
            <pc:sldMk cId="1502852559" sldId="278"/>
            <ac:graphicFrameMk id="4" creationId="{C30FBA34-B0A7-629D-81D6-976091ABC31B}"/>
          </ac:graphicFrameMkLst>
        </pc:graphicFrameChg>
        <pc:graphicFrameChg chg="add mod modGraphic">
          <ac:chgData name="B117610005" userId="ed4df039-70b0-4f98-ac31-86f0028da959" providerId="ADAL" clId="{14D2983A-1548-477A-8699-A049CA97622A}" dt="2024-05-01T02:00:19.983" v="665" actId="113"/>
          <ac:graphicFrameMkLst>
            <pc:docMk/>
            <pc:sldMk cId="1502852559" sldId="278"/>
            <ac:graphicFrameMk id="6" creationId="{6363E331-D68E-0B3E-60D1-5EEFF7569CFB}"/>
          </ac:graphicFrameMkLst>
        </pc:graphicFrameChg>
      </pc:sldChg>
      <pc:sldChg chg="add del">
        <pc:chgData name="B117610005" userId="ed4df039-70b0-4f98-ac31-86f0028da959" providerId="ADAL" clId="{14D2983A-1548-477A-8699-A049CA97622A}" dt="2024-05-01T01:53:43.958" v="357"/>
        <pc:sldMkLst>
          <pc:docMk/>
          <pc:sldMk cId="2848758028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B2EA6-3635-4FAB-81AB-B0558D2D92E7}" type="datetimeFigureOut">
              <a:rPr lang="zh-TW" altLang="en-US" smtClean="0"/>
              <a:t>2024/5/1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2B112-E784-4D3D-9F6B-76A048F63A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82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2B112-E784-4D3D-9F6B-76A048F63AD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47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2B112-E784-4D3D-9F6B-76A048F63AD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8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2B112-E784-4D3D-9F6B-76A048F63AD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87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12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1.svg"/><Relationship Id="rId4" Type="http://schemas.openxmlformats.org/officeDocument/2006/relationships/image" Target="../media/image1.jp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4A28498-8844-4D76-B320-4D9914FECD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4529271"/>
            <a:ext cx="12192000" cy="2328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A6A3139-493F-7DF9-7C89-798FF750E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313" y="10135"/>
            <a:ext cx="11562271" cy="1081818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標題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B8372B5-FF36-5AE7-0132-898216899B50}"/>
              </a:ext>
            </a:extLst>
          </p:cNvPr>
          <p:cNvCxnSpPr>
            <a:cxnSpLocks/>
          </p:cNvCxnSpPr>
          <p:nvPr userDrawn="1"/>
        </p:nvCxnSpPr>
        <p:spPr>
          <a:xfrm>
            <a:off x="1155469" y="6450687"/>
            <a:ext cx="94016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形 9">
            <a:extLst>
              <a:ext uri="{FF2B5EF4-FFF2-40B4-BE49-F238E27FC236}">
                <a16:creationId xmlns:a16="http://schemas.microsoft.com/office/drawing/2014/main" id="{205B2D6B-3109-C7FA-2659-924FE1416D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72" y="6026731"/>
            <a:ext cx="831211" cy="570814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E55E4C2F-21DA-5267-9C6A-628054C4FB52}"/>
              </a:ext>
            </a:extLst>
          </p:cNvPr>
          <p:cNvGrpSpPr/>
          <p:nvPr userDrawn="1"/>
        </p:nvGrpSpPr>
        <p:grpSpPr>
          <a:xfrm>
            <a:off x="10648462" y="6011692"/>
            <a:ext cx="1317460" cy="562873"/>
            <a:chOff x="10648462" y="5941291"/>
            <a:chExt cx="1317460" cy="562873"/>
          </a:xfrm>
        </p:grpSpPr>
        <p:pic>
          <p:nvPicPr>
            <p:cNvPr id="11" name="圖形 10">
              <a:extLst>
                <a:ext uri="{FF2B5EF4-FFF2-40B4-BE49-F238E27FC236}">
                  <a16:creationId xmlns:a16="http://schemas.microsoft.com/office/drawing/2014/main" id="{17039BE9-3E73-A634-F384-2255AE025D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99541" y="5941291"/>
              <a:ext cx="464501" cy="227510"/>
            </a:xfrm>
            <a:prstGeom prst="rect">
              <a:avLst/>
            </a:prstGeom>
          </p:spPr>
        </p:pic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9801724F-042C-E00A-143C-85BFDABAF7AC}"/>
                </a:ext>
              </a:extLst>
            </p:cNvPr>
            <p:cNvGrpSpPr/>
            <p:nvPr userDrawn="1"/>
          </p:nvGrpSpPr>
          <p:grpSpPr>
            <a:xfrm>
              <a:off x="10648462" y="6273783"/>
              <a:ext cx="1317460" cy="230381"/>
              <a:chOff x="8629719" y="6419383"/>
              <a:chExt cx="1803879" cy="315439"/>
            </a:xfrm>
          </p:grpSpPr>
          <p:pic>
            <p:nvPicPr>
              <p:cNvPr id="13" name="圖片 12" descr="一張含有 圖形, 平面設計, 字型, 螢幕擷取畫面 的圖片&#10;&#10;自動產生的描述">
                <a:extLst>
                  <a:ext uri="{FF2B5EF4-FFF2-40B4-BE49-F238E27FC236}">
                    <a16:creationId xmlns:a16="http://schemas.microsoft.com/office/drawing/2014/main" id="{40CEC237-508D-F5B5-6DFC-94A43DDCB3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29719" y="6419383"/>
                <a:ext cx="1803879" cy="188423"/>
              </a:xfrm>
              <a:prstGeom prst="rect">
                <a:avLst/>
              </a:prstGeom>
            </p:spPr>
          </p:pic>
          <p:pic>
            <p:nvPicPr>
              <p:cNvPr id="14" name="圖片 13" descr="一張含有 綠色, 螢幕擷取畫面, 圖形, 藝術 的圖片&#10;&#10;自動產生的描述">
                <a:extLst>
                  <a:ext uri="{FF2B5EF4-FFF2-40B4-BE49-F238E27FC236}">
                    <a16:creationId xmlns:a16="http://schemas.microsoft.com/office/drawing/2014/main" id="{05F422F9-404D-5B6B-ABA2-9BDA8B21CB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29719" y="6632822"/>
                <a:ext cx="1803879" cy="102000"/>
              </a:xfrm>
              <a:prstGeom prst="rect">
                <a:avLst/>
              </a:prstGeom>
            </p:spPr>
          </p:pic>
        </p:grpSp>
      </p:grpSp>
      <p:sp>
        <p:nvSpPr>
          <p:cNvPr id="15" name="文字版面配置區 8">
            <a:extLst>
              <a:ext uri="{FF2B5EF4-FFF2-40B4-BE49-F238E27FC236}">
                <a16:creationId xmlns:a16="http://schemas.microsoft.com/office/drawing/2014/main" id="{0103121F-B983-D41D-D47C-967DA097878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2459" y="1269506"/>
            <a:ext cx="10830758" cy="4935985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spcBef>
                <a:spcPts val="1800"/>
              </a:spcBef>
              <a:defRPr sz="2400"/>
            </a:lvl1pPr>
            <a:lvl2pPr algn="just">
              <a:lnSpc>
                <a:spcPct val="100000"/>
              </a:lnSpc>
              <a:spcBef>
                <a:spcPts val="1200"/>
              </a:spcBef>
              <a:defRPr sz="2000"/>
            </a:lvl2pPr>
          </a:lstStyle>
          <a:p>
            <a:pPr lvl="0"/>
            <a:r>
              <a:rPr lang="zh-TW" altLang="en-US" dirty="0"/>
              <a:t>課程內容</a:t>
            </a:r>
          </a:p>
          <a:p>
            <a:pPr lvl="1"/>
            <a:r>
              <a:rPr lang="zh-TW" altLang="en-US" dirty="0"/>
              <a:t>列點舉例</a:t>
            </a:r>
          </a:p>
        </p:txBody>
      </p:sp>
      <p:sp>
        <p:nvSpPr>
          <p:cNvPr id="16" name="投影片編號版面配置區 4">
            <a:extLst>
              <a:ext uri="{FF2B5EF4-FFF2-40B4-BE49-F238E27FC236}">
                <a16:creationId xmlns:a16="http://schemas.microsoft.com/office/drawing/2014/main" id="{D07D8DCA-9100-4ABB-3318-13EB8E83C86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1563447" y="6487335"/>
            <a:ext cx="532274" cy="365125"/>
          </a:xfrm>
        </p:spPr>
        <p:txBody>
          <a:bodyPr anchor="b"/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30C97D6B-926C-4FAE-B50E-008D22558B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7" name="日期版面配置區 3">
            <a:extLst>
              <a:ext uri="{FF2B5EF4-FFF2-40B4-BE49-F238E27FC236}">
                <a16:creationId xmlns:a16="http://schemas.microsoft.com/office/drawing/2014/main" id="{91DAEA43-C142-9CEB-1F2A-78789710C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01897" y="6456106"/>
            <a:ext cx="131746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498D98C-5297-4952-81BC-191E5EB4F06B}" type="datetime1">
              <a:rPr lang="zh-TW" altLang="en-US" smtClean="0"/>
              <a:t>2024/5/1</a:t>
            </a:fld>
            <a:endParaRPr lang="zh-TW" altLang="en-US" dirty="0"/>
          </a:p>
        </p:txBody>
      </p:sp>
      <p:sp>
        <p:nvSpPr>
          <p:cNvPr id="18" name="頁尾版面配置區 4">
            <a:extLst>
              <a:ext uri="{FF2B5EF4-FFF2-40B4-BE49-F238E27FC236}">
                <a16:creationId xmlns:a16="http://schemas.microsoft.com/office/drawing/2014/main" id="{94985E70-9CAD-C306-1026-C0D676EAD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6714" y="6456106"/>
            <a:ext cx="3068396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TW" altLang="en-US" dirty="0"/>
              <a:t>標題標題標題標題  </a:t>
            </a:r>
            <a:r>
              <a:rPr lang="en-US" altLang="zh-TW" dirty="0"/>
              <a:t>|</a:t>
            </a:r>
            <a:r>
              <a:rPr lang="zh-TW" altLang="en-US" dirty="0"/>
              <a:t>  楊政融 </a:t>
            </a:r>
            <a:r>
              <a:rPr lang="en-US" altLang="zh-TW" dirty="0" err="1"/>
              <a:t>Ph.D</a:t>
            </a:r>
            <a:r>
              <a:rPr lang="en-US" altLang="zh-TW" dirty="0"/>
              <a:t>  |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135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2" descr="影音》打造教研新櫥窗中山大學「西灣學院創意實踐基地」啟用">
            <a:extLst>
              <a:ext uri="{FF2B5EF4-FFF2-40B4-BE49-F238E27FC236}">
                <a16:creationId xmlns:a16="http://schemas.microsoft.com/office/drawing/2014/main" id="{DAEAF321-0224-2C97-FD71-A7CD6FFFBC4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30" t="7782" r="30" b="29744"/>
          <a:stretch/>
        </p:blipFill>
        <p:spPr bwMode="auto">
          <a:xfrm>
            <a:off x="-8878" y="0"/>
            <a:ext cx="12200878" cy="507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圖片 13" descr="一張含有 水, 螢幕擷取畫面, 藍色, 淺粉藍 的圖片&#10;&#10;自動產生的描述">
            <a:extLst>
              <a:ext uri="{FF2B5EF4-FFF2-40B4-BE49-F238E27FC236}">
                <a16:creationId xmlns:a16="http://schemas.microsoft.com/office/drawing/2014/main" id="{85374BB1-EF7E-DF53-2116-A4F5512B96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3566"/>
            <a:ext cx="12192000" cy="2005970"/>
          </a:xfrm>
          <a:prstGeom prst="rect">
            <a:avLst/>
          </a:prstGeom>
        </p:spPr>
      </p:pic>
      <p:sp>
        <p:nvSpPr>
          <p:cNvPr id="3" name="副標題 2">
            <a:extLst>
              <a:ext uri="{FF2B5EF4-FFF2-40B4-BE49-F238E27FC236}">
                <a16:creationId xmlns:a16="http://schemas.microsoft.com/office/drawing/2014/main" id="{EC07A782-6179-EC56-2ECF-EC83E19EE2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110689"/>
            <a:ext cx="9144000" cy="119270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副標題</a:t>
            </a: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26679810-7012-1440-9692-C550568BBF6A}"/>
              </a:ext>
            </a:extLst>
          </p:cNvPr>
          <p:cNvGrpSpPr/>
          <p:nvPr userDrawn="1"/>
        </p:nvGrpSpPr>
        <p:grpSpPr>
          <a:xfrm>
            <a:off x="211428" y="5780597"/>
            <a:ext cx="2625143" cy="592885"/>
            <a:chOff x="325875" y="280992"/>
            <a:chExt cx="3115594" cy="703653"/>
          </a:xfrm>
        </p:grpSpPr>
        <p:pic>
          <p:nvPicPr>
            <p:cNvPr id="37" name="圖形 36">
              <a:extLst>
                <a:ext uri="{FF2B5EF4-FFF2-40B4-BE49-F238E27FC236}">
                  <a16:creationId xmlns:a16="http://schemas.microsoft.com/office/drawing/2014/main" id="{3693E94A-C0A2-0E46-FA60-C3B4E589D0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5875" y="280992"/>
              <a:ext cx="1024649" cy="703653"/>
            </a:xfrm>
            <a:prstGeom prst="rect">
              <a:avLst/>
            </a:prstGeom>
          </p:spPr>
        </p:pic>
        <p:pic>
          <p:nvPicPr>
            <p:cNvPr id="39" name="圖形 38">
              <a:extLst>
                <a:ext uri="{FF2B5EF4-FFF2-40B4-BE49-F238E27FC236}">
                  <a16:creationId xmlns:a16="http://schemas.microsoft.com/office/drawing/2014/main" id="{CF90AA6E-34F0-7A84-7DE3-6212843733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56201" y="414839"/>
              <a:ext cx="1545083" cy="230832"/>
            </a:xfrm>
            <a:prstGeom prst="rect">
              <a:avLst/>
            </a:prstGeom>
          </p:spPr>
        </p:pic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3A46FF6E-C535-42B2-04D2-A1304C50AB9B}"/>
                </a:ext>
              </a:extLst>
            </p:cNvPr>
            <p:cNvSpPr txBox="1"/>
            <p:nvPr userDrawn="1"/>
          </p:nvSpPr>
          <p:spPr>
            <a:xfrm>
              <a:off x="1350524" y="684435"/>
              <a:ext cx="2090945" cy="255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latin typeface="Cambria" panose="02040503050406030204" pitchFamily="18" charset="0"/>
                  <a:ea typeface="Cambria" panose="02040503050406030204" pitchFamily="18" charset="0"/>
                </a:rPr>
                <a:t>National Sun Yat-Sen University</a:t>
              </a:r>
              <a:endParaRPr lang="zh-TW" altLang="en-US" sz="800" dirty="0">
                <a:latin typeface="Cambria" panose="02040503050406030204" pitchFamily="18" charset="0"/>
              </a:endParaRPr>
            </a:p>
          </p:txBody>
        </p:sp>
      </p:grpSp>
      <p:sp>
        <p:nvSpPr>
          <p:cNvPr id="15" name="標題 14">
            <a:extLst>
              <a:ext uri="{FF2B5EF4-FFF2-40B4-BE49-F238E27FC236}">
                <a16:creationId xmlns:a16="http://schemas.microsoft.com/office/drawing/2014/main" id="{16568944-E5BA-1BDE-D113-528FB6AF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8878" y="2511073"/>
            <a:ext cx="12191999" cy="1943446"/>
          </a:xfrm>
        </p:spPr>
        <p:txBody>
          <a:bodyPr>
            <a:normAutofit/>
          </a:bodyPr>
          <a:lstStyle>
            <a:lvl1pPr algn="ctr"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簡報公版 </a:t>
            </a:r>
            <a:r>
              <a:rPr lang="en-US" altLang="zh-TW" dirty="0"/>
              <a:t>PPT</a:t>
            </a:r>
            <a:r>
              <a:rPr lang="zh-TW" altLang="en-US" dirty="0"/>
              <a:t> </a:t>
            </a:r>
            <a:r>
              <a:rPr lang="en-US" altLang="zh-TW" dirty="0"/>
              <a:t>Model 2023</a:t>
            </a:r>
            <a:endParaRPr lang="zh-TW" altLang="en-US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1DB95D2B-D8FC-B7B4-7F81-0A344B711337}"/>
              </a:ext>
            </a:extLst>
          </p:cNvPr>
          <p:cNvGrpSpPr/>
          <p:nvPr userDrawn="1"/>
        </p:nvGrpSpPr>
        <p:grpSpPr>
          <a:xfrm>
            <a:off x="10150854" y="5785414"/>
            <a:ext cx="1803879" cy="650559"/>
            <a:chOff x="10150854" y="5785414"/>
            <a:chExt cx="1803879" cy="650559"/>
          </a:xfrm>
        </p:grpSpPr>
        <p:pic>
          <p:nvPicPr>
            <p:cNvPr id="42" name="圖形 41">
              <a:extLst>
                <a:ext uri="{FF2B5EF4-FFF2-40B4-BE49-F238E27FC236}">
                  <a16:creationId xmlns:a16="http://schemas.microsoft.com/office/drawing/2014/main" id="{8D79F1CB-A0F6-13A4-B993-62BCB6FDBB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396715" y="5785414"/>
              <a:ext cx="558018" cy="273315"/>
            </a:xfrm>
            <a:prstGeom prst="rect">
              <a:avLst/>
            </a:prstGeom>
          </p:spPr>
        </p:pic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ED7B54B-BCD0-96FF-863E-9377B4F5DA7D}"/>
                </a:ext>
              </a:extLst>
            </p:cNvPr>
            <p:cNvGrpSpPr/>
            <p:nvPr userDrawn="1"/>
          </p:nvGrpSpPr>
          <p:grpSpPr>
            <a:xfrm>
              <a:off x="10150854" y="6120531"/>
              <a:ext cx="1803879" cy="315442"/>
              <a:chOff x="8629719" y="6450850"/>
              <a:chExt cx="1803879" cy="315442"/>
            </a:xfrm>
          </p:grpSpPr>
          <p:pic>
            <p:nvPicPr>
              <p:cNvPr id="4" name="圖片 3" descr="一張含有 圖形, 平面設計, 字型, 螢幕擷取畫面 的圖片&#10;&#10;自動產生的描述">
                <a:extLst>
                  <a:ext uri="{FF2B5EF4-FFF2-40B4-BE49-F238E27FC236}">
                    <a16:creationId xmlns:a16="http://schemas.microsoft.com/office/drawing/2014/main" id="{A197A6BC-1EAE-CD6B-22A6-7238F814CFB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1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29719" y="6450850"/>
                <a:ext cx="1803879" cy="188424"/>
              </a:xfrm>
              <a:prstGeom prst="rect">
                <a:avLst/>
              </a:prstGeom>
            </p:spPr>
          </p:pic>
          <p:pic>
            <p:nvPicPr>
              <p:cNvPr id="8" name="圖片 7" descr="一張含有 綠色, 螢幕擷取畫面, 圖形, 藝術 的圖片&#10;&#10;自動產生的描述">
                <a:extLst>
                  <a:ext uri="{FF2B5EF4-FFF2-40B4-BE49-F238E27FC236}">
                    <a16:creationId xmlns:a16="http://schemas.microsoft.com/office/drawing/2014/main" id="{B83C77C8-3D88-ED0E-F3D0-1D8F39E148A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29719" y="6664291"/>
                <a:ext cx="1803879" cy="102001"/>
              </a:xfrm>
              <a:prstGeom prst="rect">
                <a:avLst/>
              </a:prstGeom>
            </p:spPr>
          </p:pic>
        </p:grpSp>
      </p:grp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114390CC-802B-7D26-60C3-E69E1E2942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7619" y="1743399"/>
            <a:ext cx="2036762" cy="73501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altLang="zh-TW" dirty="0" err="1"/>
              <a:t>CHx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532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jpg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一張含有 水, 螢幕擷取畫面, 藍色, 淺粉藍 的圖片&#10;&#10;自動產生的描述">
            <a:extLst>
              <a:ext uri="{FF2B5EF4-FFF2-40B4-BE49-F238E27FC236}">
                <a16:creationId xmlns:a16="http://schemas.microsoft.com/office/drawing/2014/main" id="{657D313B-72DB-0D13-3D5F-772462519A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05C035C-5B61-F995-F5BE-0B6C2ADEC8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122995"/>
            <a:ext cx="12192000" cy="52963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F967F59-92C3-58FC-D128-55C7C3BF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14" y="18384"/>
            <a:ext cx="11562270" cy="1063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標題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414D7E-2B38-536C-CCD7-2ED99464D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9090" y="1271847"/>
            <a:ext cx="10786369" cy="448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日期版面配置區 3">
            <a:extLst>
              <a:ext uri="{FF2B5EF4-FFF2-40B4-BE49-F238E27FC236}">
                <a16:creationId xmlns:a16="http://schemas.microsoft.com/office/drawing/2014/main" id="{1AEBB1A5-3332-46CA-94D4-F774CE760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685" y="6456106"/>
            <a:ext cx="2920176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78287F9C-B9F6-4215-B28A-EBEF241BAB5C}" type="datetime1">
              <a:rPr lang="zh-TW" altLang="en-US" smtClean="0"/>
              <a:t>2024/5/1</a:t>
            </a:fld>
            <a:endParaRPr lang="zh-TW" altLang="en-US" dirty="0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A8A9336E-3C3B-B09B-41C8-D8AAADC13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04" y="6456106"/>
            <a:ext cx="3115594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標題標題標題標題  </a:t>
            </a:r>
            <a:r>
              <a:rPr lang="en-US" altLang="zh-TW" dirty="0"/>
              <a:t>|</a:t>
            </a:r>
            <a:r>
              <a:rPr lang="zh-TW" altLang="en-US" dirty="0"/>
              <a:t>  楊政融 </a:t>
            </a:r>
            <a:r>
              <a:rPr lang="en-US" altLang="zh-TW" dirty="0" err="1"/>
              <a:t>Ph.D</a:t>
            </a:r>
            <a:r>
              <a:rPr lang="en-US" altLang="zh-TW" dirty="0"/>
              <a:t>  |</a:t>
            </a:r>
            <a:endParaRPr lang="zh-TW" altLang="en-US" dirty="0"/>
          </a:p>
        </p:txBody>
      </p:sp>
      <p:sp>
        <p:nvSpPr>
          <p:cNvPr id="10" name="投影片編號版面配置區 5">
            <a:extLst>
              <a:ext uri="{FF2B5EF4-FFF2-40B4-BE49-F238E27FC236}">
                <a16:creationId xmlns:a16="http://schemas.microsoft.com/office/drawing/2014/main" id="{525DFDEC-905D-0855-67E3-55C3C7DE2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1107" y="6437457"/>
            <a:ext cx="532274" cy="365125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30C97D6B-926C-4FAE-B50E-008D22558BF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1" name="流程圖: 合併 1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7003C29-BEF9-C214-8B0B-EDBE644FB8F6}"/>
              </a:ext>
            </a:extLst>
          </p:cNvPr>
          <p:cNvSpPr/>
          <p:nvPr userDrawn="1"/>
        </p:nvSpPr>
        <p:spPr>
          <a:xfrm rot="5400000">
            <a:off x="10955076" y="6531471"/>
            <a:ext cx="229829" cy="229829"/>
          </a:xfrm>
          <a:prstGeom prst="flowChartMerge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流程圖: 合併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EC1173B-CF14-7E7E-7BF4-01C8A304E6F9}"/>
              </a:ext>
            </a:extLst>
          </p:cNvPr>
          <p:cNvSpPr/>
          <p:nvPr userDrawn="1"/>
        </p:nvSpPr>
        <p:spPr>
          <a:xfrm rot="16200000">
            <a:off x="11829584" y="6531471"/>
            <a:ext cx="229829" cy="229829"/>
          </a:xfrm>
          <a:prstGeom prst="flowChartMerge">
            <a:avLst/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986B4B6D-248B-724F-A827-7D7C4952C7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134" y="5362631"/>
            <a:ext cx="820279" cy="563307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A8BE3306-791C-1888-022D-000D8BDDBEA4}"/>
              </a:ext>
            </a:extLst>
          </p:cNvPr>
          <p:cNvGrpSpPr/>
          <p:nvPr userDrawn="1"/>
        </p:nvGrpSpPr>
        <p:grpSpPr>
          <a:xfrm>
            <a:off x="10551022" y="6038073"/>
            <a:ext cx="1428054" cy="249722"/>
            <a:chOff x="8629719" y="6450850"/>
            <a:chExt cx="1803879" cy="315442"/>
          </a:xfrm>
        </p:grpSpPr>
        <p:pic>
          <p:nvPicPr>
            <p:cNvPr id="19" name="圖片 18" descr="一張含有 圖形, 平面設計, 字型, 螢幕擷取畫面 的圖片&#10;&#10;自動產生的描述">
              <a:extLst>
                <a:ext uri="{FF2B5EF4-FFF2-40B4-BE49-F238E27FC236}">
                  <a16:creationId xmlns:a16="http://schemas.microsoft.com/office/drawing/2014/main" id="{9BD2A3CE-BA07-31EE-052C-474DE5917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9719" y="6450850"/>
              <a:ext cx="1803879" cy="188424"/>
            </a:xfrm>
            <a:prstGeom prst="rect">
              <a:avLst/>
            </a:prstGeom>
          </p:spPr>
        </p:pic>
        <p:pic>
          <p:nvPicPr>
            <p:cNvPr id="20" name="圖片 19" descr="一張含有 綠色, 螢幕擷取畫面, 圖形, 藝術 的圖片&#10;&#10;自動產生的描述">
              <a:extLst>
                <a:ext uri="{FF2B5EF4-FFF2-40B4-BE49-F238E27FC236}">
                  <a16:creationId xmlns:a16="http://schemas.microsoft.com/office/drawing/2014/main" id="{86898E38-0872-E273-1C9B-6D5B8F1062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alphaModFix amt="5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9719" y="6664291"/>
              <a:ext cx="1803879" cy="102001"/>
            </a:xfrm>
            <a:prstGeom prst="rect">
              <a:avLst/>
            </a:prstGeom>
          </p:spPr>
        </p:pic>
      </p:grpSp>
      <p:pic>
        <p:nvPicPr>
          <p:cNvPr id="6" name="圖形 5">
            <a:extLst>
              <a:ext uri="{FF2B5EF4-FFF2-40B4-BE49-F238E27FC236}">
                <a16:creationId xmlns:a16="http://schemas.microsoft.com/office/drawing/2014/main" id="{716BFCAC-D62E-6524-21FD-82653C24006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51022" y="5677103"/>
            <a:ext cx="485598" cy="23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00000"/>
        </a:lnSpc>
        <a:spcBef>
          <a:spcPts val="1200"/>
        </a:spcBef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B76B1CD8-E702-1E00-B664-D2F815168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國立中山大學人文暨科技跨領域學士學位學程</a:t>
            </a:r>
          </a:p>
          <a:p>
            <a:r>
              <a:rPr lang="zh-TW" altLang="en-US" dirty="0"/>
              <a:t>楊政融老師</a:t>
            </a:r>
          </a:p>
          <a:p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666B69F0-75D5-E1ED-1D92-E1445C1B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期末專題</a:t>
            </a:r>
            <a:r>
              <a:rPr lang="en-US" altLang="zh-TW" dirty="0"/>
              <a:t>-</a:t>
            </a:r>
            <a:r>
              <a:rPr lang="zh-TW" altLang="en-US" dirty="0"/>
              <a:t>建築物</a:t>
            </a:r>
          </a:p>
        </p:txBody>
      </p:sp>
    </p:spTree>
    <p:extLst>
      <p:ext uri="{BB962C8B-B14F-4D97-AF65-F5344CB8AC3E}">
        <p14:creationId xmlns:p14="http://schemas.microsoft.com/office/powerpoint/2010/main" val="5864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8">
            <a:extLst>
              <a:ext uri="{FF2B5EF4-FFF2-40B4-BE49-F238E27FC236}">
                <a16:creationId xmlns:a16="http://schemas.microsoft.com/office/drawing/2014/main" id="{E091F827-ADB5-66FF-6600-EEC0F25F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13" y="10135"/>
            <a:ext cx="11562271" cy="1081818"/>
          </a:xfrm>
        </p:spPr>
        <p:txBody>
          <a:bodyPr>
            <a:normAutofit/>
          </a:bodyPr>
          <a:lstStyle/>
          <a:p>
            <a:r>
              <a:rPr lang="zh-TW" altLang="en-US" dirty="0"/>
              <a:t>注意事項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00FABEB-7B8C-6A37-BF8D-408889C616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規則：以組為單位，</a:t>
            </a:r>
            <a:r>
              <a:rPr lang="zh-TW" altLang="en-US" b="1" dirty="0">
                <a:solidFill>
                  <a:srgbClr val="C00000"/>
                </a:solidFill>
              </a:rPr>
              <a:t>一組</a:t>
            </a:r>
            <a:r>
              <a:rPr lang="en-US" altLang="zh-TW" b="1" dirty="0">
                <a:solidFill>
                  <a:srgbClr val="C00000"/>
                </a:solidFill>
              </a:rPr>
              <a:t>2</a:t>
            </a:r>
            <a:r>
              <a:rPr lang="zh-TW" altLang="en-US" b="1" dirty="0">
                <a:solidFill>
                  <a:srgbClr val="C00000"/>
                </a:solidFill>
              </a:rPr>
              <a:t>人</a:t>
            </a:r>
            <a:r>
              <a:rPr lang="zh-TW" altLang="en-US" dirty="0"/>
              <a:t>，請附上分工表。</a:t>
            </a:r>
            <a:endParaRPr lang="en-US" altLang="zh-TW" dirty="0"/>
          </a:p>
          <a:p>
            <a:r>
              <a:rPr lang="zh-TW" altLang="en-US" dirty="0"/>
              <a:t>報告時間：每組簡報時間</a:t>
            </a:r>
            <a:r>
              <a:rPr lang="en-US" altLang="zh-TW" dirty="0"/>
              <a:t>8</a:t>
            </a:r>
            <a:r>
              <a:rPr lang="zh-TW" altLang="en-US" dirty="0"/>
              <a:t>分鐘，老師講評</a:t>
            </a:r>
            <a:r>
              <a:rPr lang="en-US" altLang="zh-TW" dirty="0"/>
              <a:t>1</a:t>
            </a:r>
            <a:r>
              <a:rPr lang="zh-TW" altLang="en-US" dirty="0"/>
              <a:t>分鐘。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r>
              <a:rPr lang="en-US" altLang="zh-TW" dirty="0">
                <a:solidFill>
                  <a:srgbClr val="C00000"/>
                </a:solidFill>
              </a:rPr>
              <a:t>05/30</a:t>
            </a:r>
            <a:r>
              <a:rPr lang="zh-TW" altLang="en-US" dirty="0"/>
              <a:t>和</a:t>
            </a:r>
            <a:r>
              <a:rPr lang="en-US" altLang="zh-TW" dirty="0">
                <a:solidFill>
                  <a:srgbClr val="C00000"/>
                </a:solidFill>
              </a:rPr>
              <a:t>06/06</a:t>
            </a:r>
          </a:p>
          <a:p>
            <a:r>
              <a:rPr lang="zh-TW" altLang="en-US" dirty="0"/>
              <a:t>報告安排：依照組別順序，</a:t>
            </a:r>
            <a:r>
              <a:rPr lang="en-US" altLang="zh-TW" dirty="0">
                <a:solidFill>
                  <a:srgbClr val="C00000"/>
                </a:solidFill>
              </a:rPr>
              <a:t>15</a:t>
            </a:r>
            <a:r>
              <a:rPr lang="zh-TW" altLang="en-US" dirty="0"/>
              <a:t>組在</a:t>
            </a:r>
            <a:r>
              <a:rPr lang="en-US" altLang="zh-TW" dirty="0">
                <a:solidFill>
                  <a:srgbClr val="C00000"/>
                </a:solidFill>
              </a:rPr>
              <a:t>05/30</a:t>
            </a:r>
            <a:r>
              <a:rPr lang="zh-TW" altLang="en-US" dirty="0"/>
              <a:t>；</a:t>
            </a:r>
            <a:r>
              <a:rPr lang="en-US" altLang="zh-TW" dirty="0">
                <a:solidFill>
                  <a:srgbClr val="C00000"/>
                </a:solidFill>
              </a:rPr>
              <a:t>12</a:t>
            </a:r>
            <a:r>
              <a:rPr lang="zh-TW" altLang="en-US" dirty="0"/>
              <a:t>組在</a:t>
            </a:r>
            <a:r>
              <a:rPr lang="en-US" altLang="zh-TW" dirty="0">
                <a:solidFill>
                  <a:srgbClr val="C00000"/>
                </a:solidFill>
              </a:rPr>
              <a:t>06/06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AD3DCC0-D150-A9CB-C08E-6604BD4F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7D6B-926C-4FAE-B50E-008D22558BF4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377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8">
            <a:extLst>
              <a:ext uri="{FF2B5EF4-FFF2-40B4-BE49-F238E27FC236}">
                <a16:creationId xmlns:a16="http://schemas.microsoft.com/office/drawing/2014/main" id="{E091F827-ADB5-66FF-6600-EEC0F25F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13" y="10135"/>
            <a:ext cx="11562271" cy="1081818"/>
          </a:xfrm>
        </p:spPr>
        <p:txBody>
          <a:bodyPr>
            <a:normAutofit/>
          </a:bodyPr>
          <a:lstStyle/>
          <a:p>
            <a:r>
              <a:rPr lang="zh-TW" altLang="en-US" dirty="0"/>
              <a:t>注意事項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00FABEB-7B8C-6A37-BF8D-408889C616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主題：</a:t>
            </a:r>
            <a:r>
              <a:rPr lang="zh-TW" altLang="en-US" b="1" dirty="0"/>
              <a:t>建築物創作</a:t>
            </a:r>
            <a:endParaRPr lang="en-US" altLang="zh-TW" b="1" dirty="0"/>
          </a:p>
          <a:p>
            <a:r>
              <a:rPr lang="zh-TW" altLang="en-US" dirty="0"/>
              <a:t>工具限定：</a:t>
            </a:r>
            <a:r>
              <a:rPr lang="en-US" altLang="zh-TW" dirty="0"/>
              <a:t>Autodesk Inventor</a:t>
            </a:r>
          </a:p>
          <a:p>
            <a:r>
              <a:rPr lang="zh-TW" altLang="en-US" dirty="0"/>
              <a:t>繳交格式：各零件檔</a:t>
            </a:r>
            <a:r>
              <a:rPr lang="en-US" altLang="zh-TW" dirty="0"/>
              <a:t>(.</a:t>
            </a:r>
            <a:r>
              <a:rPr lang="en-US" altLang="zh-TW" dirty="0" err="1"/>
              <a:t>ipt</a:t>
            </a:r>
            <a:r>
              <a:rPr lang="en-US" altLang="zh-TW" dirty="0"/>
              <a:t>)</a:t>
            </a:r>
            <a:r>
              <a:rPr lang="zh-TW" altLang="en-US" dirty="0"/>
              <a:t>、</a:t>
            </a:r>
            <a:r>
              <a:rPr lang="en-US" altLang="zh-TW" dirty="0"/>
              <a:t>3D</a:t>
            </a:r>
            <a:r>
              <a:rPr lang="zh-TW" altLang="en-US" dirty="0"/>
              <a:t>組裝檔</a:t>
            </a:r>
            <a:r>
              <a:rPr lang="en-US" altLang="zh-TW" dirty="0"/>
              <a:t>(.</a:t>
            </a:r>
            <a:r>
              <a:rPr lang="en-US" altLang="zh-TW" dirty="0" err="1"/>
              <a:t>iam</a:t>
            </a:r>
            <a:r>
              <a:rPr lang="en-US" altLang="zh-TW" dirty="0"/>
              <a:t>)</a:t>
            </a:r>
            <a:r>
              <a:rPr lang="zh-TW" altLang="en-US" dirty="0"/>
              <a:t>、簡報</a:t>
            </a:r>
            <a:r>
              <a:rPr lang="en-US" altLang="zh-TW" dirty="0"/>
              <a:t>(.ppt)</a:t>
            </a:r>
          </a:p>
          <a:p>
            <a:r>
              <a:rPr lang="zh-TW" altLang="en-US" dirty="0"/>
              <a:t>創作說明：建築元素至少</a:t>
            </a:r>
            <a:r>
              <a:rPr lang="zh-TW" altLang="en-US" sz="2400" b="0" i="0" kern="1200" noProof="0" dirty="0"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要包含</a:t>
            </a:r>
            <a:r>
              <a:rPr lang="en-US" altLang="zh-TW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</a:t>
            </a:r>
            <a:r>
              <a:rPr lang="zh-TW" altLang="en-US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頂蓋</a:t>
            </a:r>
            <a:r>
              <a:rPr lang="en-US" altLang="zh-TW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lang="zh-TW" altLang="en-US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屋頂</a:t>
            </a:r>
            <a:r>
              <a:rPr lang="en-US" altLang="zh-TW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r>
              <a:rPr lang="zh-TW" altLang="en-US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</a:t>
            </a:r>
            <a:r>
              <a:rPr lang="zh-TW" altLang="en-US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梁柱或牆壁 </a:t>
            </a:r>
            <a:r>
              <a:rPr lang="en-US" altLang="zh-TW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</a:t>
            </a:r>
            <a:r>
              <a:rPr lang="zh-TW" altLang="en-US" sz="2400" b="0" i="0" kern="1200" noProof="0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門</a:t>
            </a:r>
            <a:r>
              <a:rPr lang="zh-TW" altLang="en-US" sz="2400" b="0" i="0" kern="1200" noProof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，利用各建築元素組合出一個作品。</a:t>
            </a:r>
            <a:endParaRPr lang="en-US" altLang="zh-TW" sz="2400" b="0" i="0" kern="1200" noProof="0" dirty="0"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endParaRPr lang="en-US" altLang="zh-TW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AD3DCC0-D150-A9CB-C08E-6604BD4F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7D6B-926C-4FAE-B50E-008D22558BF4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97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30FBA34-B0A7-629D-81D6-976091ABC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969452"/>
              </p:ext>
            </p:extLst>
          </p:nvPr>
        </p:nvGraphicFramePr>
        <p:xfrm>
          <a:off x="903847" y="1345029"/>
          <a:ext cx="10467975" cy="488922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57303">
                  <a:extLst>
                    <a:ext uri="{9D8B030D-6E8A-4147-A177-3AD203B41FA5}">
                      <a16:colId xmlns:a16="http://schemas.microsoft.com/office/drawing/2014/main" val="841335967"/>
                    </a:ext>
                  </a:extLst>
                </a:gridCol>
                <a:gridCol w="6076950">
                  <a:extLst>
                    <a:ext uri="{9D8B030D-6E8A-4147-A177-3AD203B41FA5}">
                      <a16:colId xmlns:a16="http://schemas.microsoft.com/office/drawing/2014/main" val="4026042107"/>
                    </a:ext>
                  </a:extLst>
                </a:gridCol>
                <a:gridCol w="2333722">
                  <a:extLst>
                    <a:ext uri="{9D8B030D-6E8A-4147-A177-3AD203B41FA5}">
                      <a16:colId xmlns:a16="http://schemas.microsoft.com/office/drawing/2014/main" val="3645279980"/>
                    </a:ext>
                  </a:extLst>
                </a:gridCol>
              </a:tblGrid>
              <a:tr h="262869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</a:rPr>
                        <a:t>項目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TW" altLang="en-US" sz="1600" b="1" kern="1200">
                          <a:solidFill>
                            <a:schemeClr val="tx1"/>
                          </a:solidFill>
                        </a:rPr>
                        <a:t>重點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tx1"/>
                          </a:solidFill>
                        </a:rPr>
                        <a:t>配分</a:t>
                      </a:r>
                      <a:endParaRPr lang="zh-TW" altLang="en-US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/>
                </a:tc>
                <a:extLst>
                  <a:ext uri="{0D108BD9-81ED-4DB2-BD59-A6C34878D82A}">
                    <a16:rowId xmlns:a16="http://schemas.microsoft.com/office/drawing/2014/main" val="1880158899"/>
                  </a:ext>
                </a:extLst>
              </a:tr>
              <a:tr h="50748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Inventor</a:t>
                      </a:r>
                      <a:r>
                        <a:rPr lang="zh-TW" altLang="en-US" sz="1600" b="1" dirty="0">
                          <a:solidFill>
                            <a:schemeClr val="tx1"/>
                          </a:solidFill>
                        </a:rPr>
                        <a:t>熟練度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介紹在作品中使用的</a:t>
                      </a: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Inventor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功能</a:t>
                      </a: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至少</a:t>
                      </a: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10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種</a:t>
                      </a: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</a:t>
                      </a: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15%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127" marR="63127" marT="31564" marB="31564" anchor="ctr"/>
                </a:tc>
                <a:extLst>
                  <a:ext uri="{0D108BD9-81ED-4DB2-BD59-A6C34878D82A}">
                    <a16:rowId xmlns:a16="http://schemas.microsoft.com/office/drawing/2014/main" val="1421021048"/>
                  </a:ext>
                </a:extLst>
              </a:tr>
              <a:tr h="274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</a:rPr>
                        <a:t>作品組裝圖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張由不同視角呈現完整的產品圖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noProof="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zh-TW" altLang="en-US" sz="1600" kern="1200" noProof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extLst>
                  <a:ext uri="{0D108BD9-81ED-4DB2-BD59-A6C34878D82A}">
                    <a16:rowId xmlns:a16="http://schemas.microsoft.com/office/drawing/2014/main" val="3924052009"/>
                  </a:ext>
                </a:extLst>
              </a:tr>
              <a:tr h="274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</a:rPr>
                        <a:t>作品爆炸圖</a:t>
                      </a:r>
                      <a:endParaRPr lang="en-US" altLang="zh-TW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張作品局部零件分解的爆炸圖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1200" noProof="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zh-TW" altLang="en-US" sz="1600" kern="1200" noProof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extLst>
                  <a:ext uri="{0D108BD9-81ED-4DB2-BD59-A6C34878D82A}">
                    <a16:rowId xmlns:a16="http://schemas.microsoft.com/office/drawing/2014/main" val="2257761681"/>
                  </a:ext>
                </a:extLst>
              </a:tr>
              <a:tr h="7545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</a:rPr>
                        <a:t>作品完整度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作品構造須包含</a:t>
                      </a:r>
                      <a:r>
                        <a:rPr lang="en-US" altLang="zh-TW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但不限於</a:t>
                      </a:r>
                      <a:r>
                        <a:rPr lang="en-US" altLang="zh-TW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en-US" altLang="zh-TW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頂蓋</a:t>
                      </a:r>
                      <a:r>
                        <a:rPr lang="en-US" altLang="zh-TW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屋頂</a:t>
                      </a:r>
                      <a:r>
                        <a:rPr lang="en-US" altLang="zh-TW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) 2.</a:t>
                      </a: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梁柱或牆壁 </a:t>
                      </a:r>
                      <a:r>
                        <a:rPr lang="en-US" altLang="zh-TW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zh-TW" altLang="en-US" sz="1600" b="0" kern="1200" noProof="0" dirty="0">
                          <a:solidFill>
                            <a:schemeClr val="tx1"/>
                          </a:solidFill>
                          <a:effectLst/>
                        </a:rPr>
                        <a:t>門</a:t>
                      </a:r>
                      <a:endParaRPr lang="en-US" altLang="zh-TW" sz="1600" b="0" i="0" kern="1200" noProof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15%</a:t>
                      </a:r>
                      <a:endParaRPr kumimoji="0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extLst>
                  <a:ext uri="{0D108BD9-81ED-4DB2-BD59-A6C34878D82A}">
                    <a16:rowId xmlns:a16="http://schemas.microsoft.com/office/drawing/2014/main" val="1685566395"/>
                  </a:ext>
                </a:extLst>
              </a:tr>
              <a:tr h="577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報告時間</a:t>
                      </a: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報告</a:t>
                      </a:r>
                      <a:r>
                        <a:rPr lang="en-US" altLang="zh-TW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</a:t>
                      </a:r>
                      <a:r>
                        <a:rPr lang="zh-TW" alt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分鐘，</a:t>
                      </a:r>
                      <a:r>
                        <a:rPr lang="en-US" altLang="zh-TW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±30</a:t>
                      </a:r>
                      <a:r>
                        <a:rPr lang="zh-TW" alt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秒，多</a:t>
                      </a:r>
                      <a:r>
                        <a:rPr lang="en-US" altLang="zh-TW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少</a:t>
                      </a:r>
                      <a:r>
                        <a:rPr lang="en-US" altLang="zh-TW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30</a:t>
                      </a:r>
                      <a:r>
                        <a:rPr lang="zh-TW" alt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秒扣</a:t>
                      </a:r>
                      <a:r>
                        <a:rPr lang="en-US" altLang="zh-TW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  <a:r>
                        <a:rPr lang="zh-TW" alt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分</a:t>
                      </a:r>
                      <a:endParaRPr lang="en-US" altLang="zh-TW" sz="1600" b="0" i="0" kern="1200" noProof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127" marR="63127" marT="31564" marB="3156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63127" marR="63127" marT="31564" marB="31564" anchor="ctr"/>
                </a:tc>
                <a:extLst>
                  <a:ext uri="{0D108BD9-81ED-4DB2-BD59-A6C34878D82A}">
                    <a16:rowId xmlns:a16="http://schemas.microsoft.com/office/drawing/2014/main" val="1902658334"/>
                  </a:ext>
                </a:extLst>
              </a:tr>
              <a:tr h="3316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</a:rPr>
                        <a:t>創作理念</a:t>
                      </a:r>
                      <a:endParaRPr lang="zh-TW" altLang="en-US" sz="16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74" marR="59274" marT="29637" marB="29637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主題明確性 </a:t>
                      </a:r>
                      <a:r>
                        <a:rPr kumimoji="0" lang="en-US" altLang="zh-TW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(3%)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： 創作是否有清晰、明確的主題容易理解？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表達目的 </a:t>
                      </a:r>
                      <a:r>
                        <a:rPr kumimoji="0" lang="en-US" altLang="zh-TW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(3%)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： 作品是否能夠有效傳達作者的創作目的或意圖？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核心理念 </a:t>
                      </a:r>
                      <a:r>
                        <a:rPr kumimoji="0" lang="en-US" altLang="zh-TW" sz="1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(4%)</a:t>
                      </a:r>
                      <a:r>
                        <a:rPr kumimoji="0" lang="zh-TW" alt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： 是否具體的核心理念，以凸顯作品的深度？</a:t>
                      </a:r>
                      <a:endParaRPr kumimoji="0" lang="en-US" altLang="zh-TW" sz="16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※</a:t>
                      </a:r>
                      <a:r>
                        <a:rPr kumimoji="0" lang="zh-TW" alt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請在簡報中用</a:t>
                      </a: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文字呈現上述三者評分項目</a:t>
                      </a:r>
                      <a:endParaRPr kumimoji="0" lang="en-US" altLang="zh-TW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9274" marR="59274" marT="29637" marB="2963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10%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9274" marR="59274" marT="29637" marB="29637" anchor="ctr"/>
                </a:tc>
                <a:extLst>
                  <a:ext uri="{0D108BD9-81ED-4DB2-BD59-A6C34878D82A}">
                    <a16:rowId xmlns:a16="http://schemas.microsoft.com/office/drawing/2014/main" val="3754323687"/>
                  </a:ext>
                </a:extLst>
              </a:tr>
              <a:tr h="3316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TW" altLang="en-US" sz="16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創意與原創</a:t>
                      </a:r>
                    </a:p>
                  </a:txBody>
                  <a:tcPr marL="59274" marR="59274" marT="29637" marB="29637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作品中獨特元素或特色。例如，新穎設計、風格。</a:t>
                      </a:r>
                      <a:endParaRPr kumimoji="0" lang="en-US" altLang="zh-TW" sz="18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59274" marR="59274" marT="29637" marB="2963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20%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59274" marR="59274" marT="29637" marB="29637" anchor="ctr"/>
                </a:tc>
                <a:extLst>
                  <a:ext uri="{0D108BD9-81ED-4DB2-BD59-A6C34878D82A}">
                    <a16:rowId xmlns:a16="http://schemas.microsoft.com/office/drawing/2014/main" val="1137059230"/>
                  </a:ext>
                </a:extLst>
              </a:tr>
            </a:tbl>
          </a:graphicData>
        </a:graphic>
      </p:graphicFrame>
      <p:sp>
        <p:nvSpPr>
          <p:cNvPr id="2" name="標題 8">
            <a:extLst>
              <a:ext uri="{FF2B5EF4-FFF2-40B4-BE49-F238E27FC236}">
                <a16:creationId xmlns:a16="http://schemas.microsoft.com/office/drawing/2014/main" id="{E091F827-ADB5-66FF-6600-EEC0F25F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評分標準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D835D0-5426-484A-73A5-4EE63F18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7D6B-926C-4FAE-B50E-008D22558BF4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4</a:t>
            </a:fld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5621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8">
            <a:extLst>
              <a:ext uri="{FF2B5EF4-FFF2-40B4-BE49-F238E27FC236}">
                <a16:creationId xmlns:a16="http://schemas.microsoft.com/office/drawing/2014/main" id="{E091F827-ADB5-66FF-6600-EEC0F25F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05/30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報告組別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D835D0-5426-484A-73A5-4EE63F18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7D6B-926C-4FAE-B50E-008D22558BF4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5</a:t>
            </a:fld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B6CC1BB-19CA-1823-C4AB-667DA93FF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62131"/>
              </p:ext>
            </p:extLst>
          </p:nvPr>
        </p:nvGraphicFramePr>
        <p:xfrm>
          <a:off x="1087717" y="1598207"/>
          <a:ext cx="4069978" cy="4259069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314824">
                  <a:extLst>
                    <a:ext uri="{9D8B030D-6E8A-4147-A177-3AD203B41FA5}">
                      <a16:colId xmlns:a16="http://schemas.microsoft.com/office/drawing/2014/main" val="4211311212"/>
                    </a:ext>
                  </a:extLst>
                </a:gridCol>
                <a:gridCol w="2755154">
                  <a:extLst>
                    <a:ext uri="{9D8B030D-6E8A-4147-A177-3AD203B41FA5}">
                      <a16:colId xmlns:a16="http://schemas.microsoft.com/office/drawing/2014/main" val="2618667844"/>
                    </a:ext>
                  </a:extLst>
                </a:gridCol>
              </a:tblGrid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組別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姓名</a:t>
                      </a:r>
                      <a:r>
                        <a:rPr lang="en-US" altLang="zh-TW" b="1" dirty="0"/>
                        <a:t>+</a:t>
                      </a:r>
                      <a:r>
                        <a:rPr lang="zh-TW" altLang="en-US" b="1" dirty="0"/>
                        <a:t>學號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44262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519654"/>
                  </a:ext>
                </a:extLst>
              </a:tr>
              <a:tr h="4735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31120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2830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8256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472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81295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178730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5167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0316071-C8FB-145A-4884-315EC0D1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550614"/>
              </p:ext>
            </p:extLst>
          </p:nvPr>
        </p:nvGraphicFramePr>
        <p:xfrm>
          <a:off x="6350000" y="1598206"/>
          <a:ext cx="4069978" cy="3785544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314824">
                  <a:extLst>
                    <a:ext uri="{9D8B030D-6E8A-4147-A177-3AD203B41FA5}">
                      <a16:colId xmlns:a16="http://schemas.microsoft.com/office/drawing/2014/main" val="4211311212"/>
                    </a:ext>
                  </a:extLst>
                </a:gridCol>
                <a:gridCol w="2755154">
                  <a:extLst>
                    <a:ext uri="{9D8B030D-6E8A-4147-A177-3AD203B41FA5}">
                      <a16:colId xmlns:a16="http://schemas.microsoft.com/office/drawing/2014/main" val="2618667844"/>
                    </a:ext>
                  </a:extLst>
                </a:gridCol>
              </a:tblGrid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組別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姓名</a:t>
                      </a:r>
                      <a:r>
                        <a:rPr lang="en-US" altLang="zh-TW" b="1" dirty="0"/>
                        <a:t>+</a:t>
                      </a:r>
                      <a:r>
                        <a:rPr lang="zh-TW" altLang="en-US" b="1" dirty="0"/>
                        <a:t>學號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44262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51965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31120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2830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8256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472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81295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17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269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8">
            <a:extLst>
              <a:ext uri="{FF2B5EF4-FFF2-40B4-BE49-F238E27FC236}">
                <a16:creationId xmlns:a16="http://schemas.microsoft.com/office/drawing/2014/main" id="{E091F827-ADB5-66FF-6600-EEC0F25F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06/06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報告組別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D835D0-5426-484A-73A5-4EE63F18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7D6B-926C-4FAE-B50E-008D22558BF4}" type="slidenum">
              <a:rPr lang="zh-TW" alt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/>
              <a:t>6</a:t>
            </a:fld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1E60038-02D0-8A06-F6EE-F4958D55D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72912"/>
              </p:ext>
            </p:extLst>
          </p:nvPr>
        </p:nvGraphicFramePr>
        <p:xfrm>
          <a:off x="1087717" y="1598207"/>
          <a:ext cx="4069978" cy="3312351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314824">
                  <a:extLst>
                    <a:ext uri="{9D8B030D-6E8A-4147-A177-3AD203B41FA5}">
                      <a16:colId xmlns:a16="http://schemas.microsoft.com/office/drawing/2014/main" val="4211311212"/>
                    </a:ext>
                  </a:extLst>
                </a:gridCol>
                <a:gridCol w="2755154">
                  <a:extLst>
                    <a:ext uri="{9D8B030D-6E8A-4147-A177-3AD203B41FA5}">
                      <a16:colId xmlns:a16="http://schemas.microsoft.com/office/drawing/2014/main" val="2618667844"/>
                    </a:ext>
                  </a:extLst>
                </a:gridCol>
              </a:tblGrid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組別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姓名</a:t>
                      </a:r>
                      <a:r>
                        <a:rPr lang="en-US" altLang="zh-TW" b="1" dirty="0"/>
                        <a:t>+</a:t>
                      </a:r>
                      <a:r>
                        <a:rPr lang="zh-TW" altLang="en-US" b="1" dirty="0"/>
                        <a:t>學號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44262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51965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31120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2830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19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8256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472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81295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363E331-D68E-0B3E-60D1-5EEFF7569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513090"/>
              </p:ext>
            </p:extLst>
          </p:nvPr>
        </p:nvGraphicFramePr>
        <p:xfrm>
          <a:off x="6350000" y="1598206"/>
          <a:ext cx="4069978" cy="3349594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1314824">
                  <a:extLst>
                    <a:ext uri="{9D8B030D-6E8A-4147-A177-3AD203B41FA5}">
                      <a16:colId xmlns:a16="http://schemas.microsoft.com/office/drawing/2014/main" val="4211311212"/>
                    </a:ext>
                  </a:extLst>
                </a:gridCol>
                <a:gridCol w="2755154">
                  <a:extLst>
                    <a:ext uri="{9D8B030D-6E8A-4147-A177-3AD203B41FA5}">
                      <a16:colId xmlns:a16="http://schemas.microsoft.com/office/drawing/2014/main" val="2618667844"/>
                    </a:ext>
                  </a:extLst>
                </a:gridCol>
              </a:tblGrid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/>
                        <a:t>組別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姓名</a:t>
                      </a:r>
                      <a:r>
                        <a:rPr lang="en-US" altLang="zh-TW" b="1" dirty="0"/>
                        <a:t>+</a:t>
                      </a:r>
                      <a:r>
                        <a:rPr lang="zh-TW" altLang="en-US" b="1" dirty="0"/>
                        <a:t>學號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442624"/>
                  </a:ext>
                </a:extLst>
              </a:tr>
              <a:tr h="51043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51965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311204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12830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8256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4729"/>
                  </a:ext>
                </a:extLst>
              </a:tr>
              <a:tr h="47319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81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852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S 永續創新實驗室 簡報公版 2023.potx" id="{D76AC74E-8AE4-4455-9A9E-0F4E0909E393}" vid="{D2128375-08D7-4C8B-90C5-A7F861B9BB4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400</Words>
  <Application>Microsoft Office PowerPoint</Application>
  <PresentationFormat>寬螢幕</PresentationFormat>
  <Paragraphs>86</Paragraphs>
  <Slides>6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Aptos</vt:lpstr>
      <vt:lpstr>Arial</vt:lpstr>
      <vt:lpstr>Cambria</vt:lpstr>
      <vt:lpstr>Office 佈景主題</vt:lpstr>
      <vt:lpstr>期末專題-建築物</vt:lpstr>
      <vt:lpstr>注意事項</vt:lpstr>
      <vt:lpstr>注意事項</vt:lpstr>
      <vt:lpstr>評分標準</vt:lpstr>
      <vt:lpstr>05/30報告組別</vt:lpstr>
      <vt:lpstr>06/06報告組別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期末專題-建築物</dc:title>
  <dc:creator>B117610005</dc:creator>
  <cp:lastModifiedBy>B117610005</cp:lastModifiedBy>
  <cp:revision>1</cp:revision>
  <dcterms:created xsi:type="dcterms:W3CDTF">2024-04-29T01:06:08Z</dcterms:created>
  <dcterms:modified xsi:type="dcterms:W3CDTF">2024-05-01T02:01:19Z</dcterms:modified>
</cp:coreProperties>
</file>